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7" r:id="rId2"/>
    <p:sldId id="262" r:id="rId3"/>
    <p:sldId id="261" r:id="rId4"/>
    <p:sldId id="264" r:id="rId5"/>
    <p:sldId id="258" r:id="rId6"/>
    <p:sldId id="265" r:id="rId7"/>
    <p:sldId id="256" r:id="rId8"/>
    <p:sldId id="257" r:id="rId9"/>
    <p:sldId id="263" r:id="rId10"/>
    <p:sldId id="260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D8373-5A7E-4F82-BE88-C371410939EC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B8FDA1-2E24-4C05-889A-BBFF99759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626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B8FDA1-2E24-4C05-889A-BBFF997597D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474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B8FDA1-2E24-4C05-889A-BBFF997597D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553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E87A7-ECF5-77FB-B4D1-A049A5BB2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2AAF1-F169-F4DA-C08B-82D63234FE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EC651-0B39-51C8-DC60-6DEEEE495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75F9-CB8C-4A25-8440-D8A504414A1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F7515-E024-E452-7D67-C08AAE0F9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93C14-14B8-A064-AF80-2905A2F48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CF52-FC1D-4741-9357-51760AEF3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099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B0739-FF0A-F86B-AA5C-D49CC9A6A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99215-A929-719A-A428-F5E401EE6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0C9B6-00F0-2326-48C0-203086F99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75F9-CB8C-4A25-8440-D8A504414A1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1AAE8-5063-AF77-C7C9-CD768226E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6DB71-A945-4DD8-B3CE-E2C25A4D2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CF52-FC1D-4741-9357-51760AEF3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916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8BFFF-72F3-CB36-CAF4-D863C91DD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6694F-3255-C124-AE2D-6924CB4E9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E2773-5D22-DADF-DBDF-47BA7D18E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75F9-CB8C-4A25-8440-D8A504414A1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DD283-681F-15ED-6DB7-99FD64E2F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BEF1A-5571-7621-6886-BFE1BC629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CF52-FC1D-4741-9357-51760AEF3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547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A056-E74B-F112-1248-48FD9BE5E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D5433-2727-FE73-F25A-2031426567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A700B-AA35-3A35-45AB-0A6894DFF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E73785-9DE8-3454-4772-CB895D4AC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75F9-CB8C-4A25-8440-D8A504414A1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32981-FA4A-FE7A-64BE-457E69EB3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E5785-6907-94DD-9CE9-69FC6F81B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CF52-FC1D-4741-9357-51760AEF3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194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544C9-098E-1BC5-9164-73D2EAA76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29EA7-C5B0-BE26-DF11-54B7F5B6A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B4BB7-D063-1481-77E2-988A9DD92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3ED65E-582B-D104-F338-C7CE89197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DF6545-A772-3D65-4824-47122CF10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2C8E04-C51B-0AAF-66B4-EB540258C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75F9-CB8C-4A25-8440-D8A504414A1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1C3FF0-DC3A-3CFA-FF34-B5FDD8EA4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E16D20-7747-F9B2-FB49-DD1774F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CF52-FC1D-4741-9357-51760AEF3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396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E91E0-C362-E8B1-E218-58FBF4357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99A95E-ED71-7C80-EEEC-77C80251A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75F9-CB8C-4A25-8440-D8A504414A1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23C51C-1FBC-704B-3792-6E912790F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3CB347-9DF0-34E4-D04A-9DDBD5BB1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CF52-FC1D-4741-9357-51760AEF3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005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EEDC3D-7432-AD9F-BC78-5ED8FB043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75F9-CB8C-4A25-8440-D8A504414A1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C3B13A-3005-DE8C-6F37-D551A1A98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8D82F-C154-BAAC-FE3F-73332121D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CF52-FC1D-4741-9357-51760AEF3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74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52C79-3BD0-6A48-1E43-E46A3DF15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A77D2-79BA-7F9A-48F1-06B97CBE1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6B4575-29D2-DC4E-9197-098E83DF7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21DD3-F4AC-0888-788A-00FBFA84B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75F9-CB8C-4A25-8440-D8A504414A1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EB373-5BC6-F2B8-5977-1034B1461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09B78-2EC1-5BC9-2774-E80E2717C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CF52-FC1D-4741-9357-51760AEF3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843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24EA2-B612-299E-4445-77C81F946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4638C5-97BC-EAC4-7588-280B701FD3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05FAD2-197A-551C-8BCD-7553086CD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B83E0-9A4D-660C-6603-8A59CACF5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75F9-CB8C-4A25-8440-D8A504414A1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1DA61-0690-4D4A-9AE6-AFE235C1C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F8F930-299F-7AB3-D1B5-EBFBA4B6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CF52-FC1D-4741-9357-51760AEF3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29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0B01F-9596-41F7-1A44-541E61E98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70AFBB-C6DD-DE58-7FB1-8DBB518EE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04EC9-C162-F536-BB97-C4060C92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75F9-CB8C-4A25-8440-D8A504414A1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A38DC-E962-3F13-5F2C-20886569C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11557-8397-C8B2-A660-4BADB392C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CF52-FC1D-4741-9357-51760AEF3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953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F5A811-355B-760E-8F25-478563DC03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4000C1-FFF6-9B21-B95F-7DC5BC7CAA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363CD-9543-4531-91AA-A046763E9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775F9-CB8C-4A25-8440-D8A504414A1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068A8-6D86-8724-DCD2-659F7C52A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F9E27-EAA4-90BF-081D-5866E81C0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CF52-FC1D-4741-9357-51760AEF3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515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8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12944C-88CE-37D7-92AA-60C1FDE46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C0C89-8904-61E3-C340-4789B4995F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FBA27-8C3C-91C7-AAB5-17ECD42339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775F9-CB8C-4A25-8440-D8A504414A1B}" type="datetimeFigureOut">
              <a:rPr lang="en-IN" smtClean="0"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603E1-294B-8B91-F92F-F89EB77414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B82C6-5494-931C-01FB-D845523134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EFCF52-FC1D-4741-9357-51760AEF3A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57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86969-B5D1-13DB-C17B-801F9393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F4936-59EE-0DC7-D730-6BD686FA8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329" y="884903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9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Raising Cybersecurity Awareness: Using Gamification and AI Nudging Supported by Cyber Law.</a:t>
            </a:r>
            <a:br>
              <a:rPr lang="en-US" b="1" dirty="0"/>
            </a:b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189E87-5F88-A96A-8596-C8A11FC49A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9432" y="2723534"/>
            <a:ext cx="10953135" cy="3645737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DE1D13-DB6C-655E-64E9-136B0F42C1B4}"/>
              </a:ext>
            </a:extLst>
          </p:cNvPr>
          <p:cNvSpPr txBox="1"/>
          <p:nvPr/>
        </p:nvSpPr>
        <p:spPr>
          <a:xfrm>
            <a:off x="1061885" y="2976741"/>
            <a:ext cx="97437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Authors : 1. Piyush A. Gandhi (Author),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2. Asawari P. Shinde (Co-Author).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&amp; Department Name : Third Year, Computer Engineering.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Name : Trinity Polytechnic, Pune (1734) - MSBTE.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 : Rahul D. Dhongade.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2563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26E7D-E981-DEA8-6DAD-17F47D2A4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7C11E-92CC-BA3C-1527-FC2E09D69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8890CF-2C50-7646-6E52-44400BCE7C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76864" y="1219200"/>
            <a:ext cx="11238271" cy="530179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B8533B-6C7D-8C9E-8159-F78F963C3E00}"/>
              </a:ext>
            </a:extLst>
          </p:cNvPr>
          <p:cNvSpPr txBox="1"/>
          <p:nvPr/>
        </p:nvSpPr>
        <p:spPr>
          <a:xfrm>
            <a:off x="838199" y="1483330"/>
            <a:ext cx="10215716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Rising Threat: Phishing attacks via malicious links remain one of the top cybercrimes globally and in India (APWG &amp; CERT-In 2024–2025 reports).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Context: High mobile usage + rapid growth in WhatsApp, Telegram, UPI fraud → millions at risk daily.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Awareness Gap: Traditional methods (posters, videos, workshops) are passive → low engagement &amp; poor long-term retention.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of Gamification: Serious games proven to improve knowledge through interaction between system &amp; User.</a:t>
            </a:r>
          </a:p>
        </p:txBody>
      </p:sp>
    </p:spTree>
    <p:extLst>
      <p:ext uri="{BB962C8B-B14F-4D97-AF65-F5344CB8AC3E}">
        <p14:creationId xmlns:p14="http://schemas.microsoft.com/office/powerpoint/2010/main" val="296022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D0AC6B-F07F-97DB-4587-C02176D27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1474-CA8D-5818-5F0B-E144B8A38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707" y="0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89E351-D6E5-0688-66A4-276A257C2B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2956" y="1071716"/>
            <a:ext cx="11371006" cy="5574444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1BC2C4-C1AE-983C-B3E8-0DFF951DB3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78" t="5717" r="7183" b="11130"/>
          <a:stretch>
            <a:fillRect/>
          </a:stretch>
        </p:blipFill>
        <p:spPr>
          <a:xfrm>
            <a:off x="2339877" y="1071716"/>
            <a:ext cx="7512246" cy="5574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31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E09652-8D4E-3C19-23FF-EF21A0B24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FF33E-0D78-1E89-5A1F-9F272A69B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554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FDB807-0551-306E-CE60-938D97CE99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0271" y="1405117"/>
            <a:ext cx="11051458" cy="5102942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6256F8-DEF9-634F-89B3-6BCF7336420A}"/>
              </a:ext>
            </a:extLst>
          </p:cNvPr>
          <p:cNvSpPr txBox="1"/>
          <p:nvPr/>
        </p:nvSpPr>
        <p:spPr>
          <a:xfrm>
            <a:off x="1435509" y="2320412"/>
            <a:ext cx="871138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Majority of users fail to detect sophisticated phishing URLs (typosquatting, homoglyphs, fake subdomains, encoded URLs, shortened links).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cybersecurity literacy among non-technical Indian users.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are mostly English-only, passive, and lack India-specific context (UPI, regional apps).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2075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2D7D37-923A-5B8C-F3C2-49795127B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6D3BC-E3F2-43B7-F074-ADE65205E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024C90-637C-63FD-F7B7-049813BD75C9}"/>
              </a:ext>
            </a:extLst>
          </p:cNvPr>
          <p:cNvSpPr txBox="1"/>
          <p:nvPr/>
        </p:nvSpPr>
        <p:spPr>
          <a:xfrm>
            <a:off x="1770801" y="3782961"/>
            <a:ext cx="80437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dirty="0"/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F923DD-EAA9-8119-4757-166B622D72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0271" y="1288026"/>
            <a:ext cx="11051458" cy="5189596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78728E-8299-23B2-AE1D-5E4B9C2ACD7C}"/>
              </a:ext>
            </a:extLst>
          </p:cNvPr>
          <p:cNvSpPr txBox="1"/>
          <p:nvPr/>
        </p:nvSpPr>
        <p:spPr>
          <a:xfrm>
            <a:off x="1558424" y="1653848"/>
            <a:ext cx="8650398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levels + 20-question final quiz.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lives per level, streak scoring, badges.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fake link generation. (for ex: grnail.com = m)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UI (13 Indian languages).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quiz mode (anti-exit, anti-screenshot).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certificate (PDF/JPG + QR verification).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focus: I4C, 1930 helpline, cybercrime.gov.in, CERT-In, regional language support.</a:t>
            </a:r>
          </a:p>
        </p:txBody>
      </p:sp>
    </p:spTree>
    <p:extLst>
      <p:ext uri="{BB962C8B-B14F-4D97-AF65-F5344CB8AC3E}">
        <p14:creationId xmlns:p14="http://schemas.microsoft.com/office/powerpoint/2010/main" val="4194754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9E8CCF-3518-CD3C-F3B1-2CC5C1BF9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9F32-61FA-7530-E985-E4F26FE34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74320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947AB6-8B66-8C34-5A95-E2FD960A9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996140"/>
              </p:ext>
            </p:extLst>
          </p:nvPr>
        </p:nvGraphicFramePr>
        <p:xfrm>
          <a:off x="838199" y="840844"/>
          <a:ext cx="10515601" cy="591047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51545">
                  <a:extLst>
                    <a:ext uri="{9D8B030D-6E8A-4147-A177-3AD203B41FA5}">
                      <a16:colId xmlns:a16="http://schemas.microsoft.com/office/drawing/2014/main" val="65884002"/>
                    </a:ext>
                  </a:extLst>
                </a:gridCol>
                <a:gridCol w="2051545">
                  <a:extLst>
                    <a:ext uri="{9D8B030D-6E8A-4147-A177-3AD203B41FA5}">
                      <a16:colId xmlns:a16="http://schemas.microsoft.com/office/drawing/2014/main" val="1587298000"/>
                    </a:ext>
                  </a:extLst>
                </a:gridCol>
                <a:gridCol w="2051545">
                  <a:extLst>
                    <a:ext uri="{9D8B030D-6E8A-4147-A177-3AD203B41FA5}">
                      <a16:colId xmlns:a16="http://schemas.microsoft.com/office/drawing/2014/main" val="3184506831"/>
                    </a:ext>
                  </a:extLst>
                </a:gridCol>
                <a:gridCol w="2051545">
                  <a:extLst>
                    <a:ext uri="{9D8B030D-6E8A-4147-A177-3AD203B41FA5}">
                      <a16:colId xmlns:a16="http://schemas.microsoft.com/office/drawing/2014/main" val="3954998812"/>
                    </a:ext>
                  </a:extLst>
                </a:gridCol>
                <a:gridCol w="2309421">
                  <a:extLst>
                    <a:ext uri="{9D8B030D-6E8A-4147-A177-3AD203B41FA5}">
                      <a16:colId xmlns:a16="http://schemas.microsoft.com/office/drawing/2014/main" val="707325813"/>
                    </a:ext>
                  </a:extLst>
                </a:gridCol>
              </a:tblGrid>
              <a:tr h="22963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(Year)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 / Focus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/ Techniques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Remarks / Limitations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3893804153"/>
                  </a:ext>
                </a:extLst>
              </a:tr>
              <a:tr h="8443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Sheng et al. (2010)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Phishing education via games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Game-based training (Anti-Phishing Phil), user study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widely cited serious game for phishing; improved recognition rates by ~40% in short term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Web-based prototype, English-only, no mobile version, short-term retention only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937724625"/>
                  </a:ext>
                </a:extLst>
              </a:tr>
              <a:tr h="8443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Kumaraguru et al. (2007)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Phishing susceptibility &amp; interventions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studies, training materials, embedded training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Showed that embedded training (in-context warnings) outperforms mass training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 email phishing; no mobile or link-specific focus; dated dataset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2358170387"/>
                  </a:ext>
                </a:extLst>
              </a:tr>
              <a:tr h="10492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Alkhushayni &amp; Lee (2025)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Multilingual / low-resource sentiment analysis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Translation augmentation + SVM / </a:t>
                      </a:r>
                      <a:r>
                        <a:rPr lang="fr-FR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pre-trained</a:t>
                      </a:r>
                      <a:r>
                        <a:rPr lang="fr-F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</a:t>
                      </a:r>
                      <a:endParaRPr lang="fr-FR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cross-lingual generalization for low-resource languages (including some Indian languages)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Primarily sentiment analysis (not phishing);</a:t>
                      </a:r>
                      <a:b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e-commerce focus; no gamification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306917695"/>
                  </a:ext>
                </a:extLst>
              </a:tr>
              <a:tr h="10492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Mao et al. (2024)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 phishing &amp; social engineering survey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review (PRISMA), 200+ papers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Broad categorization of phishing techniques, datasets, and countermeasures; identifies gaps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paper; no original implementation; limited focus on user education games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453978273"/>
                  </a:ext>
                </a:extLst>
              </a:tr>
              <a:tr h="10492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CERT-In /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MeitY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(2024–2025)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India-specific cybercrime &amp; phishing trends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Annual reports, helpline data (1930), UPI fraud analysis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Documents massive rise in WhatsApp/Telegram phishing in India; recommends awareness campaigns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Official report; no technical/game-based solution; passive awareness only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3760780552"/>
                  </a:ext>
                </a:extLst>
              </a:tr>
              <a:tr h="8443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Chaithra et al. (2025)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Financial phishing &amp; sentiment in news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Instruction-tuned LLMs + RAG + Reinforcement Learning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detection of financial phishing in news/articles; supports real-time decision making</a:t>
                      </a:r>
                    </a:p>
                  </a:txBody>
                  <a:tcPr marL="25748" marR="25748" marT="12874" marB="1287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Finance/news domain only; no user-facing game or training component</a:t>
                      </a:r>
                    </a:p>
                  </a:txBody>
                  <a:tcPr marL="25748" marR="25748" marT="12874" marB="12874" anchor="ctr"/>
                </a:tc>
                <a:extLst>
                  <a:ext uri="{0D108BD9-81ED-4DB2-BD59-A6C34878D82A}">
                    <a16:rowId xmlns:a16="http://schemas.microsoft.com/office/drawing/2014/main" val="68565545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69836D1-9F8A-4A94-FC66-BDA91CCD35CA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1109192237"/>
              </p:ext>
            </p:extLst>
          </p:nvPr>
        </p:nvGraphicFramePr>
        <p:xfrm>
          <a:off x="855406" y="840844"/>
          <a:ext cx="10515599" cy="5910476"/>
        </p:xfrm>
        <a:graphic>
          <a:graphicData uri="http://schemas.openxmlformats.org/drawingml/2006/table">
            <a:tbl>
              <a:tblPr/>
              <a:tblGrid>
                <a:gridCol w="10515599">
                  <a:extLst>
                    <a:ext uri="{9D8B030D-6E8A-4147-A177-3AD203B41FA5}">
                      <a16:colId xmlns:a16="http://schemas.microsoft.com/office/drawing/2014/main" val="2368378233"/>
                    </a:ext>
                  </a:extLst>
                </a:gridCol>
              </a:tblGrid>
              <a:tr h="5910476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lnT w="28575" cmpd="sng">
                      <a:solidFill>
                        <a:schemeClr val="tx1"/>
                      </a:solidFill>
                      <a:prstDash val="solid"/>
                    </a:lnT>
                    <a:lnB w="28575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138656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1CB2CA8-1F1B-71E2-754F-AEAF04931CF4}"/>
              </a:ext>
            </a:extLst>
          </p:cNvPr>
          <p:cNvCxnSpPr/>
          <p:nvPr/>
        </p:nvCxnSpPr>
        <p:spPr>
          <a:xfrm>
            <a:off x="838200" y="1051243"/>
            <a:ext cx="10515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9668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2B14A-D3C4-D1C3-9FB8-68F7B59FD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BB42C9-EA2F-82C2-076A-328EFCFF06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3290" y="1191996"/>
            <a:ext cx="11405420" cy="532908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37267-35FE-FCCF-CC10-70FF21C12C6B}"/>
              </a:ext>
            </a:extLst>
          </p:cNvPr>
          <p:cNvSpPr txBox="1"/>
          <p:nvPr/>
        </p:nvSpPr>
        <p:spPr>
          <a:xfrm>
            <a:off x="886132" y="1426179"/>
            <a:ext cx="10419735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an interactive mobile game that effectively trains users to detect phishing and malicious links in real-world scenarios.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realistic fake link generation system using a rule-based mutation algorithm tailored for Indian social media and messaging platforms.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prominently promote Indian cyber helplines (e.g., I4C 1930) and resources within the app to encourage immediate action in real incidents.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 game’s effectiveness in improving phishing detection skills through simulated training and user feedback in an Indian context.</a:t>
            </a:r>
          </a:p>
        </p:txBody>
      </p:sp>
    </p:spTree>
    <p:extLst>
      <p:ext uri="{BB962C8B-B14F-4D97-AF65-F5344CB8AC3E}">
        <p14:creationId xmlns:p14="http://schemas.microsoft.com/office/powerpoint/2010/main" val="1397308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63E6C1-B933-C0FF-C768-6EBCCABFE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2E2EB-1243-087E-D78A-56C00EEE8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ACDC3D-5A40-AC31-6F0F-F72E91918928}"/>
              </a:ext>
            </a:extLst>
          </p:cNvPr>
          <p:cNvSpPr/>
          <p:nvPr/>
        </p:nvSpPr>
        <p:spPr>
          <a:xfrm>
            <a:off x="393290" y="1325562"/>
            <a:ext cx="11405420" cy="5175853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5D7BCA-48C6-39DE-31ED-B7869727429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5" t="10106" r="7662" b="23037"/>
          <a:stretch>
            <a:fillRect/>
          </a:stretch>
        </p:blipFill>
        <p:spPr>
          <a:xfrm>
            <a:off x="7046348" y="1325563"/>
            <a:ext cx="4307452" cy="51067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ADD9B2-F3A0-3DFD-C87C-19BBCD220AA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7" r="5479" b="12182"/>
          <a:stretch>
            <a:fillRect/>
          </a:stretch>
        </p:blipFill>
        <p:spPr>
          <a:xfrm>
            <a:off x="334296" y="1325563"/>
            <a:ext cx="6301596" cy="532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028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7C7AEB-03C2-9F06-1A0F-43D70B1CA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CED88-757D-E3D9-0B1C-EACBF42BE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15D539-487C-ABFF-5926-0E1F27213C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3290" y="1191996"/>
            <a:ext cx="11405420" cy="532908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F0DF05-EE08-15AD-77FB-C5F615AF4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4" b="15568"/>
          <a:stretch>
            <a:fillRect/>
          </a:stretch>
        </p:blipFill>
        <p:spPr>
          <a:xfrm>
            <a:off x="983224" y="1191996"/>
            <a:ext cx="10072785" cy="53290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E44680-A187-7640-213F-4104215C1E4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76400" y="5042063"/>
            <a:ext cx="2249424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Player ID</a:t>
            </a:r>
          </a:p>
        </p:txBody>
      </p:sp>
    </p:spTree>
    <p:extLst>
      <p:ext uri="{BB962C8B-B14F-4D97-AF65-F5344CB8AC3E}">
        <p14:creationId xmlns:p14="http://schemas.microsoft.com/office/powerpoint/2010/main" val="1718900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765D2-3049-6CC6-36EC-C8452D6F7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DDFEE-A508-7A38-4473-D9DB911B9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74" y="0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2E90EE-6FF8-63DD-B00E-BEF472CB9A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3290" y="1203555"/>
            <a:ext cx="11405420" cy="532908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281EDB-4154-660E-90EC-6842FC86C603}"/>
              </a:ext>
            </a:extLst>
          </p:cNvPr>
          <p:cNvSpPr txBox="1"/>
          <p:nvPr/>
        </p:nvSpPr>
        <p:spPr>
          <a:xfrm>
            <a:off x="1258528" y="2222090"/>
            <a:ext cx="88195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iOS version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SwiftUI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Flutter).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Multiplayer / friend challenge mode.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On-device ML for real-time link analysis.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CERT-In / I4C threat feeds.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mode (scan real QR codes).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Voice-guided hints in regional languages.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leaderboard &amp; social sharing.</a:t>
            </a:r>
          </a:p>
        </p:txBody>
      </p:sp>
    </p:spTree>
    <p:extLst>
      <p:ext uri="{BB962C8B-B14F-4D97-AF65-F5344CB8AC3E}">
        <p14:creationId xmlns:p14="http://schemas.microsoft.com/office/powerpoint/2010/main" val="3746768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139E11-5228-EA2A-6CA0-4E7B58B1D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F6A79-E0C5-0721-110A-903EA77C1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FC35E0-5B8E-6371-ADE8-462DB5647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3290" y="1207337"/>
            <a:ext cx="11405420" cy="532908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0CC33-9724-8233-F97D-F0EC1EAD7B70}"/>
              </a:ext>
            </a:extLst>
          </p:cNvPr>
          <p:cNvSpPr txBox="1"/>
          <p:nvPr/>
        </p:nvSpPr>
        <p:spPr>
          <a:xfrm>
            <a:off x="838200" y="1817176"/>
            <a:ext cx="1058934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Gamification: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FindTheFarzi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transforms complex phishing detection into an engaging, repeatable mobile game, significantly improving user retention and skill acquisition compared to traditional awareness methods.</a:t>
            </a:r>
          </a:p>
          <a:p>
            <a:pPr marL="457200" indent="-45720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India-Centric Innovation: With multilingual support (13 languages), realistic rule-based fake link generation, and prominent promotion of I4C 1930 helpline, the app addresses the unique needs of Indian smartphone users.</a:t>
            </a:r>
          </a:p>
          <a:p>
            <a:pPr marL="457200" indent="-45720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&amp; Verifiable Impact: Strong anti-cheat mechanisms, verifiable digital certification with QR code, and safe simulation environment position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FindTheFarzi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credible tool with potential to reduce phishing vulnerability at scale.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7363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F4B239-FDB9-0221-2923-9C39A0085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7BF153-D0AF-93E9-B77A-235111AA51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93290" y="1207337"/>
            <a:ext cx="11405420" cy="532908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D14107-4C65-D310-1E51-7B1CEB234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2766218"/>
            <a:ext cx="10515600" cy="1325563"/>
          </a:xfrm>
        </p:spPr>
        <p:txBody>
          <a:bodyPr/>
          <a:lstStyle/>
          <a:p>
            <a:pPr algn="ctr"/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185093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836</Words>
  <Application>Microsoft Office PowerPoint</Application>
  <PresentationFormat>Widescreen</PresentationFormat>
  <Paragraphs>86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Raising Cybersecurity Awareness: Using Gamification and AI Nudging Supported by Cyber Law. </vt:lpstr>
      <vt:lpstr>INTRODUCTION</vt:lpstr>
      <vt:lpstr>PROBLEM STATEMENT</vt:lpstr>
      <vt:lpstr>EXISTING SYSTEM</vt:lpstr>
      <vt:lpstr>PROPOSED SYSTEM</vt:lpstr>
      <vt:lpstr>LITERATURE SURVEY</vt:lpstr>
      <vt:lpstr>OBJECTIVES</vt:lpstr>
      <vt:lpstr>SYSTEM ARCHITECTURE</vt:lpstr>
      <vt:lpstr>METHODOLOGY </vt:lpstr>
      <vt:lpstr>FUTURE SCOPE</vt:lpstr>
      <vt:lpstr>CONCLUSION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Asawari Shinde</dc:creator>
  <cp:lastModifiedBy>Piyush Gandhi</cp:lastModifiedBy>
  <cp:revision>24</cp:revision>
  <dcterms:created xsi:type="dcterms:W3CDTF">2026-02-03T08:40:36Z</dcterms:created>
  <dcterms:modified xsi:type="dcterms:W3CDTF">2026-02-03T17:43:22Z</dcterms:modified>
</cp:coreProperties>
</file>